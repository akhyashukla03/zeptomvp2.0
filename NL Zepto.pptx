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hyperlink" Target="https://zeptomvp2.streamlit.app" TargetMode="External"/><Relationship Id="rId4" Type="http://schemas.openxmlformats.org/officeDocument/2006/relationships/hyperlink" Target="https://www.figma.com/design/2gZJHtjmpnI677IhC66PqZ/Untitled?node-id=0-1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hyperlink" Target="https://zeptomvp2.streamlit.app" TargetMode="External"/><Relationship Id="rId4" Type="http://schemas.openxmlformats.org/officeDocument/2006/relationships/hyperlink" Target="https://www.figma.com/design/2gZJHtjmpnI677IhC66PqZ/Untitled?node-id=0-1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hyperlink" Target="https://zeptomvp2.streamlit.app" TargetMode="External"/><Relationship Id="rId4" Type="http://schemas.openxmlformats.org/officeDocument/2006/relationships/hyperlink" Target="https://www.figma.com/design/2gZJHtjmpnI677IhC66PqZ/Untitled?node-id=0-1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hyperlink" Target="https://zeptomvp2.streamlit.app" TargetMode="External"/><Relationship Id="rId4" Type="http://schemas.openxmlformats.org/officeDocument/2006/relationships/hyperlink" Target="https://www.figma.com/design/2gZJHtjmpnI677IhC66PqZ/Untitled?node-id=0-1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ptomvp2.streamlit.app" TargetMode="External"/><Relationship Id="rId3" Type="http://schemas.openxmlformats.org/officeDocument/2006/relationships/hyperlink" Target="https://www.figma.com/design/2gZJHtjmpnI677IhC66PqZ/Untitled?node-id=0-1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zeptomvp2.streamlit.app" TargetMode="External"/><Relationship Id="rId3" Type="http://schemas.openxmlformats.org/officeDocument/2006/relationships/hyperlink" Target="https://www.figma.com/design/2gZJHtjmpnI677IhC66PqZ/Untitled?node-id=0-1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hyperlink" Target="https://zeptomvp2.streamlit.app" TargetMode="External"/><Relationship Id="rId4" Type="http://schemas.openxmlformats.org/officeDocument/2006/relationships/hyperlink" Target="https://www.figma.com/design/2gZJHtjmpnI677IhC66PqZ/Untitled?node-id=0-1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hyperlink" Target="https://zeptomvp2.streamlit.app" TargetMode="External"/><Relationship Id="rId4" Type="http://schemas.openxmlformats.org/officeDocument/2006/relationships/hyperlink" Target="https://www.figma.com/design/2gZJHtjmpnI677IhC66PqZ/Untitled?node-id=0-1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hyperlink" Target="https://zeptomvp2.streamlit.app" TargetMode="External"/><Relationship Id="rId4" Type="http://schemas.openxmlformats.org/officeDocument/2006/relationships/hyperlink" Target="https://www.figma.com/design/2gZJHtjmpnI677IhC66PqZ/Untitled?node-id=0-1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hyperlink" Target="https://zeptomvp2.streamlit.app" TargetMode="External"/><Relationship Id="rId4" Type="http://schemas.openxmlformats.org/officeDocument/2006/relationships/hyperlink" Target="https://www.figma.com/design/2gZJHtjmpnI677IhC66PqZ/Untitled?node-id=0-1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411480"/>
          </a:xfrm>
          <a:prstGeom prst="roundRect">
            <a:avLst/>
          </a:prstGeom>
          <a:solidFill>
            <a:srgbClr val="3B0764"/>
          </a:solidFill>
          <a:ln>
            <a:solidFill>
              <a:srgbClr val="3B0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  CATEGORY STREAK + GROCERY POINTS CROSS-SUBSIDY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7295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0F172A"/>
                </a:solidFill>
              </a:defRPr>
            </a:pPr>
            <a:r>
              <a:t>1. Zepto Expands Blended Gross Margin (+300bps) by Converting Daily Grocery Habits into Recurring Multi-Category Buying</a:t>
            </a:r>
          </a:p>
          <a:p>
            <a:pPr>
              <a:defRPr sz="1400" b="1">
                <a:solidFill>
                  <a:srgbClr val="4F46E5"/>
                </a:solidFill>
              </a:defRPr>
            </a:pPr>
            <a:r>
              <a:t>Funding grocery point rewards from high-margin non-grocery categories to bypass traditional P&amp;L subsidy limits.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10512"/>
            <a:ext cx="448056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500"/>
              </a:spcAft>
              <a:defRPr sz="1500" b="1">
                <a:solidFill>
                  <a:srgbClr val="4338CA"/>
                </a:solidFill>
              </a:defRPr>
            </a:pPr>
            <a:r>
              <a:t>📋 STRATEGIC BRIEF &amp; PM SCOPE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Role &amp; Scope: PM on Zepto Growth Team driving trust-led cross-category discovery.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Routine Tunnel Vision: 71.2% of active users are locked into fast daily grocery staple checkouts (&lt;45 seconds).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Strategic Objective: Lift Monthly Active Customers (MAC) buying from 2+ categories from 8.2% to 28.4% in 12 months.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Target Categories: Personal Care (35% margin), Pet Supplies (45% margin), Electronics (30% margin), Baby Care (35% margin).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810512"/>
            <a:ext cx="4297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500"/>
              </a:spcAft>
              <a:defRPr sz="1500" b="1">
                <a:solidFill>
                  <a:srgbClr val="4338CA"/>
                </a:solidFill>
              </a:defRPr>
            </a:pPr>
            <a:r>
              <a:t>⚡ THE CROSS-SUBSIDY ARBITRAGE MODEL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Grocery Point Cross-Subsidy: Earning 2x points on morning staples (milk, eggs) offsets the customer's grocery bill.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Sustainable Arbitrage: Points are funded from high non-grocery margins (~35–45%), not from direct P&amp;L discounts.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Ecosystem Lock-in: Competitors cannot copy this cross-subsidy without gross margin arbitrage (or subsidizing from P&amp;L).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Compounding Flywheel: More category exploration -&gt; more grocery points -&gt; stronger grocery habit retention.</a:t>
            </a:r>
          </a:p>
        </p:txBody>
      </p:sp>
      <p:pic>
        <p:nvPicPr>
          <p:cNvPr id="7" name="Picture 6" descr="01_b2b_free_sampler_c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810512"/>
            <a:ext cx="2221992" cy="3474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4F46E5"/>
                </a:solidFill>
              </a:defRPr>
            </a:pPr>
            <a:r>
              <a:t>🔗 PORTAL DIRECTORY &amp; VERIFIED HYPERLINKS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Live Streamlit App: https://zeptomvp2.streamlit.app | Figma Design System: https://www.figma.com/design/2gZJHtjmpnI677IhC66PqZ/Untitled?node-id=0-1</a:t>
            </a:r>
            <a:r>
              <a:rPr sz="1400" b="1">
                <a:solidFill>
                  <a:srgbClr val="047857"/>
                </a:solidFill>
                <a:hlinkClick r:id="rId3"/>
              </a:rPr>
              <a:t> [Open Live App]</a:t>
            </a:r>
            <a:r>
              <a:rPr sz="1400" b="1">
                <a:solidFill>
                  <a:srgbClr val="4F46E5"/>
                </a:solidFill>
                <a:hlinkClick r:id="rId4"/>
              </a:rPr>
              <a:t> [Open Figma]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236208"/>
            <a:ext cx="1078992" cy="347472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84655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Market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1211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Research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39565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6702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Canvas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447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Ideation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1931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MVP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938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76841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429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411480"/>
          </a:xfrm>
          <a:prstGeom prst="roundRect">
            <a:avLst/>
          </a:prstGeom>
          <a:solidFill>
            <a:srgbClr val="3B0764"/>
          </a:solidFill>
          <a:ln>
            <a:solidFill>
              <a:srgbClr val="3B0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  CONVENIENCE-JUSTIFIED TOP-UPS VS PLANNED BULK BUYS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7295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0F172A"/>
                </a:solidFill>
              </a:defRPr>
            </a:pPr>
            <a:r>
              <a:t>2. Users Leak Planned Non-Grocery Spending to Amazon/DMart; MVP Targets Restock Cadence and Trial-to-Repeat Loops</a:t>
            </a:r>
          </a:p>
          <a:p>
            <a:pPr>
              <a:defRPr sz="1400" b="1">
                <a:solidFill>
                  <a:srgbClr val="4F46E5"/>
                </a:solidFill>
              </a:defRPr>
            </a:pPr>
            <a:r>
              <a:t>Shifting focus from massive bulk orders to convenience-justified trials and replenishment intercepts.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10512"/>
            <a:ext cx="448056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500"/>
              </a:spcAft>
              <a:defRPr sz="1500" b="1">
                <a:solidFill>
                  <a:srgbClr val="4338CA"/>
                </a:solidFill>
              </a:defRPr>
            </a:pPr>
            <a:r>
              <a:t>⭐ WHAT THE ECOSYSTEM HAS SOLVED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10-Minute Hyperlocal Delivery Speed (Zepto, Blinkit, Instamart).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Dark Store Density &amp; Real-Time Stock (500+ Dark Stores).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Sub-Second Cart Search &amp; Auto-Complete UI.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810512"/>
            <a:ext cx="4297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500"/>
              </a:spcAft>
              <a:defRPr sz="1500" b="1">
                <a:solidFill>
                  <a:srgbClr val="4338CA"/>
                </a:solidFill>
              </a:defRPr>
            </a:pPr>
            <a:r>
              <a:t>❌ CADENCE &amp; TRIAL-TO-REPEAT BLIND SPOTS (N=24 DATA)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Purchasing Leakage: 83% (20/24) buy planned non-grocery items on Amazon/Nykaa/DMart [Survey Q3, N=24].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Planned Mismatch: 33% (8/24) cite planned bulk-buy mismatch as the #1 barrier [Survey Q4].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Zero Cadence Nudges: No Q-Commerce platform currently offers reorder suggestions based on user time gaps.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Trust &amp; Quality Friction: 20.1% fear quality degradation; 17% (4/24) fear refund chatbot loops.</a:t>
            </a:r>
          </a:p>
        </p:txBody>
      </p:sp>
      <p:pic>
        <p:nvPicPr>
          <p:cNvPr id="7" name="Picture 6" descr="06_freshness_guaranteed_aud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810512"/>
            <a:ext cx="2221992" cy="3474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4F46E5"/>
                </a:solidFill>
              </a:defRPr>
            </a:pPr>
            <a:r>
              <a:t>★ CORE THESIS TESTED &amp; VALIDATED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Exploration stalls because trial samples are treated as one-offs. Fix: Free sample -&gt; Category Streak Quest -&gt; grocery offset. Restock cadence nudge intercepts Amazon orders 2 days before purchase.</a:t>
            </a:r>
            <a:r>
              <a:rPr sz="1400" b="1">
                <a:solidFill>
                  <a:srgbClr val="047857"/>
                </a:solidFill>
                <a:hlinkClick r:id="rId3"/>
              </a:rPr>
              <a:t> [Open Live App]</a:t>
            </a:r>
            <a:r>
              <a:rPr sz="1400" b="1">
                <a:solidFill>
                  <a:srgbClr val="4F46E5"/>
                </a:solidFill>
                <a:hlinkClick r:id="rId4"/>
              </a:rPr>
              <a:t> [Open Figma]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84655" y="6236208"/>
            <a:ext cx="1078992" cy="347472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Market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1211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Research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39565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6702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Canvas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447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Ideation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1931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MVP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938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76841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429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411480"/>
          </a:xfrm>
          <a:prstGeom prst="roundRect">
            <a:avLst/>
          </a:prstGeom>
          <a:solidFill>
            <a:srgbClr val="3B0764"/>
          </a:solidFill>
          <a:ln>
            <a:solidFill>
              <a:srgbClr val="3B0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  AI REVIEW WORKFLOW &amp; PRIMARY RESEARCH SYNTHESIS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7295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0F172A"/>
                </a:solidFill>
              </a:defRPr>
            </a:pPr>
            <a:r>
              <a:t>3. Multi-Platform Mixed Review Corpus (10k Items) &amp; Survey Isolate 3 Core Pillars: Delights, Feature Requests &amp; Barriers</a:t>
            </a:r>
          </a:p>
          <a:p>
            <a:pPr>
              <a:defRPr sz="1400" b="1">
                <a:solidFill>
                  <a:srgbClr val="4F46E5"/>
                </a:solidFill>
              </a:defRPr>
            </a:pPr>
            <a:r>
              <a:t>Synthesizing 10,000 mixed reviews (40% Positive, 30% Neutral, 30% Negative) and primary N=24 survey into actionable insights.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10512"/>
            <a:ext cx="448056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500"/>
              </a:spcAft>
              <a:defRPr sz="1500" b="1">
                <a:solidFill>
                  <a:srgbClr val="4338CA"/>
                </a:solidFill>
              </a:defRPr>
            </a:pPr>
            <a:r>
              <a:t>📊 AI PIPELINE &amp; SYNTHETIC CORPUS (10,000 ITEMS)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Pipeline: Ingested 10,000 records across 10 channels -&gt; 40% Positive Delights, 30% Neutral Requests, 30% Frictions.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40% Positive Delights (4,000 items): High adoption for sub-10 min emergency refills (sunscreen, travel grooming, pet treats).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30% Neutral Feature Requests (3,000 items): Unmet demand for Shade Matchers, Doorstep Try &amp; Inspect, and Category Streaks.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810512"/>
            <a:ext cx="4297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500"/>
              </a:spcAft>
              <a:defRPr sz="1500" b="1">
                <a:solidFill>
                  <a:srgbClr val="4338CA"/>
                </a:solidFill>
              </a:defRPr>
            </a:pPr>
            <a:r>
              <a:t>🎯 3 SYNTHESIZED BARRIER BUCKETS (N=24 SURVEY)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1. Mismatch Barrier (33%, 8/24): Planned bulk buys elsewhere — intercept 2 days prior via cadence data.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2. Trial-to-Repeat Gap: Sampling exists but lacks an outcome loop to convert initial trial to repeat buying.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3. Cross-Subsidy Appeal (63%, 15/24): Prefer grocery points on streaks over flat cashbacks (38% trial via sample; 92% trust doorstep swap).</a:t>
            </a:r>
          </a:p>
        </p:txBody>
      </p:sp>
      <p:pic>
        <p:nvPicPr>
          <p:cNvPr id="7" name="Picture 6" descr="08_discovery100_voucher_convers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810512"/>
            <a:ext cx="2221992" cy="3474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4F46E5"/>
                </a:solidFill>
              </a:defRPr>
            </a:pPr>
            <a:r>
              <a:t>💡 RESEARCH CONCLUSION &amp; INSIGHT SYNTHESIS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Users do not need generic ads. They need Category Streaks (lock-in loyalty), Cadence Nudges (intercept bulk buys), and Outcome Loop Cards (drive repeat).</a:t>
            </a:r>
            <a:r>
              <a:rPr sz="1400" b="1">
                <a:solidFill>
                  <a:srgbClr val="047857"/>
                </a:solidFill>
                <a:hlinkClick r:id="rId3"/>
              </a:rPr>
              <a:t> [Open Live App]</a:t>
            </a:r>
            <a:r>
              <a:rPr sz="1400" b="1">
                <a:solidFill>
                  <a:srgbClr val="4F46E5"/>
                </a:solidFill>
                <a:hlinkClick r:id="rId4"/>
              </a:rPr>
              <a:t> [Open Figma]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84655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Market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12110" y="6236208"/>
            <a:ext cx="1078992" cy="347472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39565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6702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Canvas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447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Ideation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1931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MVP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938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76841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429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411480"/>
          </a:xfrm>
          <a:prstGeom prst="roundRect">
            <a:avLst/>
          </a:prstGeom>
          <a:solidFill>
            <a:srgbClr val="3B0764"/>
          </a:solidFill>
          <a:ln>
            <a:solidFill>
              <a:srgbClr val="3B0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  HIGH-FREQUENCY GROCERY BUYERS WHO LEAK NON-GROCERY SPEND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7295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0F172A"/>
                </a:solidFill>
              </a:defRPr>
            </a:pPr>
            <a:r>
              <a:t>4. High-Frequency Grocery Refillers (79% Weekly+) Form the Prime Wedge to Intercept Planned Non-Grocery Restocks</a:t>
            </a:r>
          </a:p>
          <a:p>
            <a:pPr>
              <a:defRPr sz="1400" b="1">
                <a:solidFill>
                  <a:srgbClr val="4F46E5"/>
                </a:solidFill>
              </a:defRPr>
            </a:pPr>
            <a:r>
              <a:t>Targeting retained grocery refuelers and using grocery cadence to intercept Amazon purchases 2 days before restock.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10512"/>
            <a:ext cx="448056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500"/>
              </a:spcAft>
              <a:defRPr sz="1500" b="1">
                <a:solidFill>
                  <a:srgbClr val="4338CA"/>
                </a:solidFill>
              </a:defRPr>
            </a:pPr>
            <a:r>
              <a:t>📊 TARGET COHORT PROFILE &amp; RATIONALE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Cohort Definition: Weekly+ grocery users (79%, 19/24) leaking non-grocery spend (83%, 20/24) [Survey N=24].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Strategic Fit: Retained, high-frequency users yield lower CAC than acquiring new users.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Predictive Interception: Grocery cadence predicts non-grocery restock timing -&gt; nudge fires 2 days before Amazon order.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Trust Transfer: Daily Zepto staple use lowers friction for adjacent category trials.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810512"/>
            <a:ext cx="4297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500"/>
              </a:spcAft>
              <a:defRPr sz="1500" b="1">
                <a:solidFill>
                  <a:srgbClr val="4338CA"/>
                </a:solidFill>
              </a:defRPr>
            </a:pPr>
            <a:r>
              <a:t>👤 PERSONA: NEHA — SKINCARE FAN, 26, BANGALORE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JTBD: When ordering morning milk, I want to try skincare samples so discovery offsets my grocery bill.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Quote: "If trying a new brand gets me 2x points on daily bread, it becomes a monthly habit."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Pain: Cautious Explorer — wants to try beauty care but fears dark-store expiry and refund friction.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Fit: Risk-free ₹0 sample + streak point converts existing demand with zero operational overhaul.</a:t>
            </a:r>
          </a:p>
        </p:txBody>
      </p:sp>
      <p:pic>
        <p:nvPicPr>
          <p:cNvPr id="7" name="Picture 6" descr="03_restock_cadence_intercep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810512"/>
            <a:ext cx="2221992" cy="3474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4F46E5"/>
                </a:solidFill>
              </a:defRPr>
            </a:pPr>
            <a:r>
              <a:t>🎯 IMPACT IF SOLVED FOR THE CAUTIOUS EXPLORER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Cuts pre-checkout anxiety loops. Makes multi-category exploration safe. Boosts customer LTV up to 3.4x via B2B sampling and loyalty points lock-in.</a:t>
            </a:r>
            <a:r>
              <a:rPr sz="1400" b="1">
                <a:solidFill>
                  <a:srgbClr val="047857"/>
                </a:solidFill>
                <a:hlinkClick r:id="rId3"/>
              </a:rPr>
              <a:t> [Open Live App]</a:t>
            </a:r>
            <a:r>
              <a:rPr sz="1400" b="1">
                <a:solidFill>
                  <a:srgbClr val="4F46E5"/>
                </a:solidFill>
                <a:hlinkClick r:id="rId4"/>
              </a:rPr>
              <a:t> [Open Figma]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84655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Market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1211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Research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39565" y="6236208"/>
            <a:ext cx="1078992" cy="347472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6702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Canvas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447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Ideation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1931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MVP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938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76841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429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411480"/>
          </a:xfrm>
          <a:prstGeom prst="roundRect">
            <a:avLst/>
          </a:prstGeom>
          <a:solidFill>
            <a:srgbClr val="3B0764"/>
          </a:solidFill>
          <a:ln>
            <a:solidFill>
              <a:srgbClr val="3B0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  SUPPLY-SIDE MONETIZATION &amp; UNIT ECONOMICS RIGOR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7295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0F172A"/>
                </a:solidFill>
              </a:defRPr>
            </a:pPr>
            <a:r>
              <a:t>5. Brand-Funded Cross-Subsidy Yields Positive Unit Economics with Immediate Payback on Cross-Category LTV</a:t>
            </a:r>
          </a:p>
          <a:p>
            <a:pPr>
              <a:defRPr sz="1400" b="1">
                <a:solidFill>
                  <a:srgbClr val="4F46E5"/>
                </a:solidFill>
              </a:defRPr>
            </a:pPr>
            <a:r>
              <a:t>Grocery rewards are funded by non-grocery margins (~35–45%), not from Zepto P&amp;L.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10512"/>
            <a:ext cx="5440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500"/>
              </a:spcAft>
              <a:defRPr sz="1500" b="1">
                <a:solidFill>
                  <a:srgbClr val="4338CA"/>
                </a:solidFill>
              </a:defRPr>
            </a:pPr>
            <a:r>
              <a:t>📈 TAM / SAM / SOM OPPORTUNITY SIZING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TAM: $18.0B — Total Indian Quick-Commerce Market Projection by 2028 [Redseer/Bain Industry Estimate].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SAM: $4.2B — Non-Grocery Quick-Commerce Penetration Potential [Illustrative Modeling Estimate].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SOM: $480M — Zepto Cross-Category Discovery Capture Opportunity [Illustrative Modeling Estimate].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810512"/>
            <a:ext cx="5440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500"/>
              </a:spcAft>
              <a:defRPr sz="1500" b="1">
                <a:solidFill>
                  <a:srgbClr val="4338CA"/>
                </a:solidFill>
              </a:defRPr>
            </a:pPr>
            <a:r>
              <a:t>💰 UNIT ECONOMICS &amp; CROSS-SUBSIDY MATH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B2B Brand Sample Fee: Brand pays ₹15/unit -&gt; Zepto earns ₹15 at zero extra delivery cost.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Streak Reward: 2x points on ~₹50 grocery order ≈ ₹5 reward; funded from non-grocery margin.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Cross-Subsidy Math: ₹499 BPC order @ 35% margin = ₹175 gross profit; easily covers ₹5 streak reward x 35 orders.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Net Impact: Cross-category trial is margin-accretive at scale (+300bps gross margin lift) — not a discount or subsidy.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4F46E5"/>
                </a:solidFill>
              </a:defRPr>
            </a:pPr>
            <a:r>
              <a:t>💡 FINANCIAL FLYWHEEL SUMMARY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Shifting grocery refillers to 35%–50% margin categories expands blended gross margin by +300bps and captures $480M SOM.</a:t>
            </a:r>
            <a:r>
              <a:rPr sz="1400" b="1">
                <a:solidFill>
                  <a:srgbClr val="047857"/>
                </a:solidFill>
                <a:hlinkClick r:id="rId2"/>
              </a:rPr>
              <a:t> [Open Live App]</a:t>
            </a:r>
            <a:r>
              <a:rPr sz="1400" b="1">
                <a:solidFill>
                  <a:srgbClr val="4F46E5"/>
                </a:solidFill>
                <a:hlinkClick r:id="rId3"/>
              </a:rPr>
              <a:t> [Open Figma]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47472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411480"/>
          </a:xfrm>
          <a:prstGeom prst="roundRect">
            <a:avLst/>
          </a:prstGeom>
          <a:solidFill>
            <a:srgbClr val="3B0764"/>
          </a:solidFill>
          <a:ln>
            <a:solidFill>
              <a:srgbClr val="3B0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  COMPOUNDING DATA FLYWHEEL VS COPIABLE PROMOS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7295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0F172A"/>
                </a:solidFill>
              </a:defRPr>
            </a:pPr>
            <a:r>
              <a:t>6. Zepto's Defensibility Lies in its Restock Cadence Engine and Local Purchase-Graph, Not Copiable Promos</a:t>
            </a:r>
          </a:p>
          <a:p>
            <a:pPr>
              <a:defRPr sz="1400" b="1">
                <a:solidFill>
                  <a:srgbClr val="4F46E5"/>
                </a:solidFill>
              </a:defRPr>
            </a:pPr>
            <a:r>
              <a:t>Flat discounts are easily copied; restock history and PIN-code purchase graphs create years of defensibility.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10512"/>
            <a:ext cx="5440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500"/>
              </a:spcAft>
              <a:defRPr sz="1500" b="1">
                <a:solidFill>
                  <a:srgbClr val="4338CA"/>
                </a:solidFill>
              </a:defRPr>
            </a:pPr>
            <a:r>
              <a:t>⚡ TRIVIALLY COPIABLE VS COMPOUNDING MOATS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Copiable Promos: Free samples/coupons and 15-min swap policies can be copied by Blinkit/Instamart in a sprint.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Moat 1 — Cadence Engine: 6–12 months of per-user order history required. Rivals starting today face a 1-year data gap.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Moat 2 — PIN-Code Social Graph: Years of dark-store density. Amazon/DMart structurally cannot replicate.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Moat 3 — Outcome Attribution: Trial-to-repeat data -&gt; Zepto Atom. No banner ad can match this performance.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91072" y="1810512"/>
            <a:ext cx="5440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500"/>
              </a:spcAft>
              <a:defRPr sz="1500" b="1">
                <a:solidFill>
                  <a:srgbClr val="4338CA"/>
                </a:solidFill>
              </a:defRPr>
            </a:pPr>
            <a:r>
              <a:t>🏆 THREE STRATEGIC HORIZONS (RICE MATRIX)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Horizon 1 (MVP) — Streak + Cadence + Outcome: Zero CapEx (brands fund samples). RICE: 230 [Vetted MVP].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Horizon 2 (Growth) — Lifecycle + Neighbourhood Feed: Self-declared life moments + opt-in trend feed (50+ user min). RICE: 190.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Horizon 3 (Vision) — Predictive Auto-Replenishment: Set-and-forget cross-category companion. RICE: 150.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4F46E5"/>
                </a:solidFill>
              </a:defRPr>
            </a:pPr>
            <a:r>
              <a:t>💡 WHY HORIZON 1 WINS FIRST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Horizon 1 wins first: zero CapEx, attacks the #1 barrier directly, and embeds in recurring grocery bags. H2/H3 require the data H1 generates.</a:t>
            </a:r>
            <a:r>
              <a:rPr sz="1400" b="1">
                <a:solidFill>
                  <a:srgbClr val="047857"/>
                </a:solidFill>
                <a:hlinkClick r:id="rId2"/>
              </a:rPr>
              <a:t> [Open Live App]</a:t>
            </a:r>
            <a:r>
              <a:rPr sz="1400" b="1">
                <a:solidFill>
                  <a:srgbClr val="4F46E5"/>
                </a:solidFill>
                <a:hlinkClick r:id="rId3"/>
              </a:rPr>
              <a:t> [Open Figma]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Context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584655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Market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1211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Research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839565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Insights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96702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Canvas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94476" y="6236208"/>
            <a:ext cx="1078992" cy="347472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Ideation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1931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MVP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4938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76841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Metrics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0429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411480"/>
          </a:xfrm>
          <a:prstGeom prst="roundRect">
            <a:avLst/>
          </a:prstGeom>
          <a:solidFill>
            <a:srgbClr val="3B0764"/>
          </a:solidFill>
          <a:ln>
            <a:solidFill>
              <a:srgbClr val="3B0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  THE FLYWHEEL MVP: STREAKS, CADENCE NUDGES, OUTCOME CARDS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7295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0F172A"/>
                </a:solidFill>
              </a:defRPr>
            </a:pPr>
            <a:r>
              <a:t>7. The Discovery MVP Embeds Category Streaks, Cadence Nudges, and Post-Trial Outcome Loop Cards</a:t>
            </a:r>
          </a:p>
          <a:p>
            <a:pPr>
              <a:defRPr sz="1400" b="1">
                <a:solidFill>
                  <a:srgbClr val="4F46E5"/>
                </a:solidFill>
              </a:defRPr>
            </a:pPr>
            <a:r>
              <a:t>Connecting trials, streaks, and intercepts into a closed-loop category adoption system.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10512"/>
            <a:ext cx="448056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500"/>
              </a:spcAft>
              <a:defRPr sz="1500" b="1">
                <a:solidFill>
                  <a:srgbClr val="4338CA"/>
                </a:solidFill>
              </a:defRPr>
            </a:pPr>
            <a:r>
              <a:t>💎 3 CORE BUILT MVP CAPABILITIES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1. 🏆 Category Streak Board: Pre-stamped Pantry sticker (Endowed Progress Effect: 34% vs 19% completion rate) -&gt; 2x grocery points.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2. 🕒 Cadence Interception Nudge: Restock timing engine fires 2 days before Amazon bulk buy (offers ₹0 brand-funded trial pack).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3. 📦 Outcome Loop Card: Trial-to-repeat converter fires at 48h with PIN-code proof ('847 near you reordered'). Rate &amp; Add to next cart.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810512"/>
            <a:ext cx="4297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500"/>
              </a:spcAft>
              <a:defRPr sz="1500" b="1">
                <a:solidFill>
                  <a:srgbClr val="4338CA"/>
                </a:solidFill>
              </a:defRPr>
            </a:pPr>
            <a:r>
              <a:t>🏆 HORIZON 2 EXPANSIONS &amp; TRUST SIGNALS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4. 🔄 Lifecycle Moment Interceptor: Basket signal prompts self-declaration card (baby diaper addition).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5. 🔥 Neighbourhood Trend Feed: Opt-in, 50+ user min, sensitive-category blocklist, PIN-code dark-store data moat.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6. 🛡️ Freshness Guaranteed Badge: Checkout trust signal — zero IoT hardware infrastructure required at MVP stage.</a:t>
            </a:r>
          </a:p>
        </p:txBody>
      </p:sp>
      <p:pic>
        <p:nvPicPr>
          <p:cNvPr id="7" name="Picture 6" descr="02_category_streak_quest_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810512"/>
            <a:ext cx="2221992" cy="3474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4F46E5"/>
                </a:solidFill>
              </a:defRPr>
            </a:pPr>
            <a:r>
              <a:t>🎨 LIVE FIGMA DESIGN SYSTEM &amp; INTERACTIVE MVP PORTAL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Live MVP Portal: https://zeptomvp2.streamlit.app | Figma Design System: https://www.figma.com/design/2gZJHtjmpnI677IhC66PqZ/Untitled?node-id=0-1</a:t>
            </a:r>
            <a:r>
              <a:rPr sz="1400" b="1">
                <a:solidFill>
                  <a:srgbClr val="047857"/>
                </a:solidFill>
                <a:hlinkClick r:id="rId3"/>
              </a:rPr>
              <a:t> [Open Live App]</a:t>
            </a:r>
            <a:r>
              <a:rPr sz="1400" b="1">
                <a:solidFill>
                  <a:srgbClr val="4F46E5"/>
                </a:solidFill>
                <a:hlinkClick r:id="rId4"/>
              </a:rPr>
              <a:t> [Open Figma]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84655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Market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1211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Research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39565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6702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Canvas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447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Ideation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1931" y="6236208"/>
            <a:ext cx="1078992" cy="347472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MVP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938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76841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429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411480"/>
          </a:xfrm>
          <a:prstGeom prst="roundRect">
            <a:avLst/>
          </a:prstGeom>
          <a:solidFill>
            <a:srgbClr val="3B0764"/>
          </a:solidFill>
          <a:ln>
            <a:solidFill>
              <a:srgbClr val="3B0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  FROM A TYPED GROCERY CART TO A TRUSTED CROSS-CATEGORY ORDER. SAME APP, TWO VIEWS.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7295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0F172A"/>
                </a:solidFill>
              </a:defRPr>
            </a:pPr>
            <a:r>
              <a:t>8. Four-Layer Decision Engine Powers Predictive Restock Nudges and Closed-Loop Brand Attribution</a:t>
            </a:r>
          </a:p>
          <a:p>
            <a:pPr>
              <a:defRPr sz="1400" b="1">
                <a:solidFill>
                  <a:srgbClr val="4F46E5"/>
                </a:solidFill>
              </a:defRPr>
            </a:pPr>
            <a:r>
              <a:t>Four-layer architecture integrates brand inventory, cart triggers, and loyalty ledgers.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10512"/>
            <a:ext cx="448056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500"/>
              </a:spcAft>
              <a:defRPr sz="1500" b="1">
                <a:solidFill>
                  <a:srgbClr val="4338CA"/>
                </a:solidFill>
              </a:defRPr>
            </a:pPr>
            <a:r>
              <a:t>⚙ SYSTEM ARCHITECTURE (4 CORE LAYERS)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Layer 1 (Client UI): Mobile Cart UI + pre-stamped Streak Board + Cadence widget + Outcome Card + B2B Sampler Carousel.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Layer 2 (Decision Engine): Restock Cadence Engine (6–12mo history) + Endowed Progress Tracker + Social Graph Parser.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Layer 3 (Operations): Dark-store picker checklist (sample insertion &lt;3s SLA) + Freshness Guaranteed badge.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Layer 4 (B2B Marketplace): Brand attribution dashboard (sample-to-repeat conversion rates per cohort via Zepto Atom).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810512"/>
            <a:ext cx="4297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500"/>
              </a:spcAft>
              <a:defRPr sz="1500" b="1">
                <a:solidFill>
                  <a:srgbClr val="4338CA"/>
                </a:solidFill>
              </a:defRPr>
            </a:pPr>
            <a:r>
              <a:t>🔄 USER EMOTION &amp; METRIC MAPPING ACROSS 4 STAGES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Stage 1 (Cart - Curious): Types grocery staples -&gt; streak board + cadence signal flagged.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Stage 2 (Nudge - Confident): Claims ₹0 sample -&gt; packed in bag in &lt;3s with zero checkout friction.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Stage 3 (Follow-Up - Reassured): Outcome Loop Card at 48h -&gt; sees '847 near you reordered' + streak CTA.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Stage 4 (Repeat - Empowered): Rates + adds full-size -&gt; streak advances -&gt; 2x grocery points earned.</a:t>
            </a:r>
          </a:p>
        </p:txBody>
      </p:sp>
      <p:pic>
        <p:nvPicPr>
          <p:cNvPr id="7" name="Picture 6" descr="04_post_trial_outcome_lo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810512"/>
            <a:ext cx="2221992" cy="3474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4F46E5"/>
                </a:solidFill>
              </a:defRPr>
            </a:pPr>
            <a:r>
              <a:t>💡 TECHNICAL ARCHITECTURE MOAT &amp; FEASIBILITY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Zero hardware cost for MVP sampler. H2 optional S3 photo storage capped at &lt;$15/month via 7-day TTL lifecycle rules.</a:t>
            </a:r>
            <a:r>
              <a:rPr sz="1400" b="1">
                <a:solidFill>
                  <a:srgbClr val="047857"/>
                </a:solidFill>
                <a:hlinkClick r:id="rId3"/>
              </a:rPr>
              <a:t> [Open Live App]</a:t>
            </a:r>
            <a:r>
              <a:rPr sz="1400" b="1">
                <a:solidFill>
                  <a:srgbClr val="4F46E5"/>
                </a:solidFill>
                <a:hlinkClick r:id="rId4"/>
              </a:rPr>
              <a:t> [Open Figma]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84655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Market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1211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Research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39565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6702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Canvas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447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Ideation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1931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MVP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9386" y="6236208"/>
            <a:ext cx="1078992" cy="347472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76841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429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411480"/>
          </a:xfrm>
          <a:prstGeom prst="roundRect">
            <a:avLst/>
          </a:prstGeom>
          <a:solidFill>
            <a:srgbClr val="3B0764"/>
          </a:solidFill>
          <a:ln>
            <a:solidFill>
              <a:srgbClr val="3B0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  INCREMENTAL LIFT VIA RANDOMIZED HOLDOUT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7295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0F172A"/>
                </a:solidFill>
              </a:defRPr>
            </a:pPr>
            <a:r>
              <a:t>9. MCER Growth (8.2% -&gt; 28.4%) Is Validated via Randomized Holdout Groups and SLA Guardrails</a:t>
            </a:r>
          </a:p>
          <a:p>
            <a:pPr>
              <a:defRPr sz="1400" b="1">
                <a:solidFill>
                  <a:srgbClr val="4F46E5"/>
                </a:solidFill>
              </a:defRPr>
            </a:pPr>
            <a:r>
              <a:t>Measuring true incremental lift via control groups rather than raw attach proxies.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10512"/>
            <a:ext cx="448056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500"/>
              </a:spcAft>
              <a:defRPr sz="1500" b="1">
                <a:solidFill>
                  <a:srgbClr val="4338CA"/>
                </a:solidFill>
              </a:defRPr>
            </a:pPr>
            <a:r>
              <a:t>⭐ NORTH STAR &amp; INCREMENTALITY DESIGN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North Star Metric: Monthly Category Exploration Rate (MCER) — % of MACs purchasing from 2+ categories/month.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Trajectory Target: Baseline: 8.2% -&gt; M3 (Pilot): 14.5% -&gt; M6 (Metro): 21.0% -&gt; M12 Target: 28.4% [Illustrative].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Holdout Control: 10% randomized control group (no sample/streak/nudge); MCER lift = treatment delta vs control.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Leading Indicators: Sample attach rate (&gt;35%), trial-to-repeat rate (≥12%, 14 days), streak completion rate (≥40%).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810512"/>
            <a:ext cx="4297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500"/>
              </a:spcAft>
              <a:defRPr sz="1500" b="1">
                <a:solidFill>
                  <a:srgbClr val="4338CA"/>
                </a:solidFill>
              </a:defRPr>
            </a:pPr>
            <a:r>
              <a:t>🛡️ OPERATIONAL GUARDRAILS &amp; KILL THRESHOLDS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Picker SLA Floor: Packing time addition capped at &lt;3 seconds per order. Checkout drop-off cap &lt;0.2%.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Refund Rate Ceiling: Doorstep replacements below 1.5% of non-grocery orders. Privacy Floor: 50+ users/PIN min.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Kill Threshold 1: Sample attach &lt; 15% after 30 days -&gt; stop sampling, pivot to nudge-only.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Kill Threshold 2: Trial-to-repeat &lt; 8% in 14 days -&gt; retrain model. MCER lift &lt; 2pp at 90 days -&gt; pause and redesign.</a:t>
            </a:r>
          </a:p>
        </p:txBody>
      </p:sp>
      <p:pic>
        <p:nvPicPr>
          <p:cNvPr id="7" name="Picture 6" descr="07_neighbourhood_trend_fe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810512"/>
            <a:ext cx="2221992" cy="3474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4F46E5"/>
                </a:solidFill>
              </a:defRPr>
            </a:pPr>
            <a:r>
              <a:t>📈 METRIC COMPOUNDING &amp; INTEGRITY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MCER is measured strictly from real event streams: sample claims, streak completions, voucher redemptions. Zero proxies. Holdout ensures causality.</a:t>
            </a:r>
            <a:r>
              <a:rPr sz="1400" b="1">
                <a:solidFill>
                  <a:srgbClr val="047857"/>
                </a:solidFill>
                <a:hlinkClick r:id="rId3"/>
              </a:rPr>
              <a:t> [Open Live App]</a:t>
            </a:r>
            <a:r>
              <a:rPr sz="1400" b="1">
                <a:solidFill>
                  <a:srgbClr val="4F46E5"/>
                </a:solidFill>
                <a:hlinkClick r:id="rId4"/>
              </a:rPr>
              <a:t> [Open Figma]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84655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Market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1211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Research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39565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6702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Canvas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447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Ideation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1931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MVP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938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76841" y="6236208"/>
            <a:ext cx="1078992" cy="347472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429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57200" y="320040"/>
            <a:ext cx="11277295" cy="411480"/>
          </a:xfrm>
          <a:prstGeom prst="roundRect">
            <a:avLst/>
          </a:prstGeom>
          <a:solidFill>
            <a:srgbClr val="3B0764"/>
          </a:solidFill>
          <a:ln>
            <a:solidFill>
              <a:srgbClr val="3B07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  HORIZON 2 ROADMAP &amp; PRIVACY GUARDRAILS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04672"/>
            <a:ext cx="11277295" cy="96012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spcAft>
                <a:spcPts val="300"/>
              </a:spcAft>
              <a:defRPr sz="1700" b="1">
                <a:solidFill>
                  <a:srgbClr val="0F172A"/>
                </a:solidFill>
              </a:defRPr>
            </a:pPr>
            <a:r>
              <a:t>10. Phased GTM Roadmap Launches Horizon 1 MVP While Building Horizon 2 Privacy-Guardrailed Features</a:t>
            </a:r>
          </a:p>
          <a:p>
            <a:pPr>
              <a:defRPr sz="1400" b="1">
                <a:solidFill>
                  <a:srgbClr val="4F46E5"/>
                </a:solidFill>
              </a:defRPr>
            </a:pPr>
            <a:r>
              <a:t>Phased rollout for Category Streaks, Cadence Intercepts, Lifecycle Moments, and Trend Feeds.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10512"/>
            <a:ext cx="448056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500"/>
              </a:spcAft>
              <a:defRPr sz="1500" b="1">
                <a:solidFill>
                  <a:srgbClr val="4338CA"/>
                </a:solidFill>
              </a:defRPr>
            </a:pPr>
            <a:r>
              <a:t>🚀 4-PHASE GTM ROLLOUT STRATEGY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Phase 1 (30 Days - MVP Beta Bangalore): Streak + Cadence Nudge + Outcome Cards across 10 dark stores with Cetaphil &amp; Pedigree.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Phase 2 (90 Days - Metro Rollout): Expand H1 to all Tier-1 metros (150 dark stores); launch B2B brand portal (Gate: MCER lift ≥3pp).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Phase 3 (180 Days - Horizon 2 Beta): Lifecycle Interceptor (self-declared) + Neighbourhood Feed (50+ user min, opt-in).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Phase 4 (GA - National Scale): Full rollout across 500+ dark-store hubs. H3 auto-replenishment roadmap.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74920" y="1810512"/>
            <a:ext cx="4297680" cy="3474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128016" rIns="164592" bIns="128016"/>
          <a:lstStyle/>
          <a:p>
            <a:pPr algn="ctr">
              <a:spcAft>
                <a:spcPts val="500"/>
              </a:spcAft>
              <a:defRPr sz="1500" b="1">
                <a:solidFill>
                  <a:srgbClr val="4338CA"/>
                </a:solidFill>
              </a:defRPr>
            </a:pPr>
            <a:r>
              <a:t>⚠️ RISKS, MITIGATIONS &amp; DIRECTORY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Rival Copying -&gt; Streak + grocery cross-subsidy requires rivals to have identical non-grocery margin structure.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Data Runway -&gt; Start cadence data collection Day 1 of pilot; 6–12 months needed for accurate interception.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Privacy Backlash -&gt; Opt-in only, 50+ user PIN-code min, sensitive-category blocklist, DPDP-compliant consent.</a:t>
            </a:r>
          </a:p>
          <a:p>
            <a:pPr>
              <a:spcAft>
                <a:spcPts val="400"/>
              </a:spcAft>
              <a:defRPr sz="1400">
                <a:solidFill>
                  <a:srgbClr val="1E293B"/>
                </a:solidFill>
              </a:defRPr>
            </a:pPr>
            <a:r>
              <a:t>•  Live MVP Portal: https://zeptomvp2.streamlit.app | Figma Design System: https://www.figma.com/design/2gZJHtjmpnI677IhC66PqZ/Untitled?node-id=0-1</a:t>
            </a:r>
          </a:p>
        </p:txBody>
      </p:sp>
      <p:pic>
        <p:nvPicPr>
          <p:cNvPr id="7" name="Picture 6" descr="05_lifecycle_moment_intercep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09760" y="1810512"/>
            <a:ext cx="2221992" cy="34747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349240"/>
            <a:ext cx="11277295" cy="777240"/>
          </a:xfrm>
          <a:prstGeom prst="roundRect">
            <a:avLst/>
          </a:prstGeom>
          <a:solidFill>
            <a:srgbClr val="F1F5F9"/>
          </a:solidFill>
          <a:ln w="1905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 rIns="164592" bIns="73152"/>
          <a:lstStyle/>
          <a:p>
            <a:pPr algn="ctr">
              <a:spcAft>
                <a:spcPts val="200"/>
              </a:spcAft>
              <a:defRPr sz="1400" b="1">
                <a:solidFill>
                  <a:srgbClr val="4F46E5"/>
                </a:solidFill>
              </a:defRPr>
            </a:pPr>
            <a:r>
              <a:t>🔒 PRIVACY PRINCIPLE &amp; DIRECTORY</a:t>
            </a:r>
          </a:p>
          <a:p>
            <a:pPr>
              <a:defRPr sz="1400">
                <a:solidFill>
                  <a:srgbClr val="0F172A"/>
                </a:solidFill>
              </a:defRPr>
            </a:pPr>
            <a:r>
              <a:t>Privacy principle: Zepto knows what you buy. It should never make you feel watched. Live Demo: https://zeptomvp2.streamlit.app | Figma: https://www.figma.com/design/2gZJHtjmpnI677IhC66PqZ/Untitled?node-id=0-1</a:t>
            </a:r>
            <a:r>
              <a:rPr sz="1400" b="1">
                <a:solidFill>
                  <a:srgbClr val="047857"/>
                </a:solidFill>
                <a:hlinkClick r:id="rId3"/>
              </a:rPr>
              <a:t> [Open Live App]</a:t>
            </a:r>
            <a:r>
              <a:rPr sz="1400" b="1">
                <a:solidFill>
                  <a:srgbClr val="4F46E5"/>
                </a:solidFill>
                <a:hlinkClick r:id="rId4"/>
              </a:rPr>
              <a:t> [Open Figma]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Context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84655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Market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1211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Research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839565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Insights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67020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Canvas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447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Ideation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1931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MVP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49386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Architecture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476841" y="6236208"/>
            <a:ext cx="1078992" cy="347472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64748B"/>
                </a:solidFill>
              </a:defRPr>
            </a:pPr>
            <a:r>
              <a:t>Metrics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604296" y="6236208"/>
            <a:ext cx="1078992" cy="347472"/>
          </a:xfrm>
          <a:prstGeom prst="roundRect">
            <a:avLst/>
          </a:prstGeom>
          <a:solidFill>
            <a:srgbClr val="4F46E5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36576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GTM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