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  AI-POWERED TRUST-LED DISCOVERY FOR CROSS-CATEGORY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8FAFC"/>
                </a:solidFill>
              </a:defRPr>
            </a:pPr>
            <a:r>
              <a:t>1. Zepto Expands Blended Gross Margin (+300bps) by Converting Daily Grocery Habits into Recurring Multi-Category Buying</a:t>
            </a:r>
          </a:p>
          <a:p>
            <a:pPr>
              <a:defRPr sz="1400">
                <a:solidFill>
                  <a:srgbClr val="F59E0B"/>
                </a:solidFill>
              </a:defRPr>
            </a:pPr>
            <a:r>
              <a:t>The barrier is not lack of demand for new categories; it is low-trust, low-risk trial inside a grocery-first habit.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10512"/>
            <a:ext cx="54406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109728"/>
          <a:lstStyle/>
          <a:p>
            <a:pPr algn="ctr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📋 STRATEGIC BRIEF &amp; PM SCOPE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Role &amp; Scope: PM on Zepto Growth Team driving trust-led cross-category discovery.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Observed Behavior: 71.2% review-mention share of grocery staples in mixed corpus shows heavy grocery dominance [10,000 Items, 10 Channels].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Strategic Objective: Lift Monthly Active Customers (MAC) buying from 2+ categories from 8.2% to 28.4% [Illustrative Target].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Target Categories: Personal Care (35% margin), Pet Supplies (45% margin), Electronics (30% margin), Baby Care (35% margin).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810512"/>
            <a:ext cx="54406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109728"/>
          <a:lstStyle/>
          <a:p>
            <a:pPr algn="ctr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⚡ ZEPTO SCALE VS MARGIN FLYWHEEL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Scale Milestone: $1.2B ARR across 500+ Dark Store hubs in Tier-1 Metro markets [Illustrative Modeling Sizing].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Routine Habit Loop: Grocery refillers checkout in &lt;45s without exploring adjacent categories.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Margin Formula: Blended Margin = (Grocery % * 10%) + (Non-Grocery % * 40%) -&gt; Unlocks +300bps EBITDA [Illustrative Modeling Estimate].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Growth PM Approach: Trigger de-risked trial during recurring grocery orders without interrupting 45s checkout speed.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🔗 ANONYMOUS FELLOWSHIP PROJECT DIRECTORY &amp; VERIFIED DATA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Live Streamlit App: https://zeptomvp2.streamlit.app | Public Source Code: NL_Zepto_Growth_PM_Graduation_Project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4747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  CONVENIENCE-JUSTIFIED TOP-UPS VS PLANNED BULK BUYS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8FAFC"/>
                </a:solidFill>
              </a:defRPr>
            </a:pPr>
            <a:r>
              <a:t>2. Users Leak Planned Non-Grocery Spending to Amazon/DMart; Phase 1 Targets Convenience-Justified Small Baskets, Not Bulk Buys</a:t>
            </a:r>
          </a:p>
          <a:p>
            <a:pPr>
              <a:defRPr sz="1400">
                <a:solidFill>
                  <a:srgbClr val="F59E0B"/>
                </a:solidFill>
              </a:defRPr>
            </a:pPr>
            <a:r>
              <a:t>Conceding planned bulk buys (10kg pet food, 50-pack diapers); targeting convenience-justified top-ups where QCommerce wins.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10512"/>
            <a:ext cx="54406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109728"/>
          <a:lstStyle/>
          <a:p>
            <a:pPr algn="ctr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⭐ WHAT THE ECOSYSTEM HAS SOLVED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10-Minute Hyper-Local Delivery Speed (Zepto, Blinkit, Instamart).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Dark Store Density &amp; Real-Time Stock (500+ Dark Stores).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Sub-Second Cart Search &amp; Auto-Complete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810512"/>
            <a:ext cx="54406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109728"/>
          <a:lstStyle/>
          <a:p>
            <a:pPr algn="ctr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❌ PURCHASING LEAKAGE &amp; SCOPE CONCESSION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Purchasing Leakage: 83% of surveyed users (20/24) buy planned non-grocery items outside QCommerce on Amazon/Nykaa/DMart [User Survey, N=24].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Explicit Scope Concession: We do NOT chase planned bulk buys (10kg pet kibble, jumbo diapers) in Phase 1 where DMart wins on unit economics.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Phase 1 Target SKUs: Convenience-justified, impulse-friendly top-ups (single face serum, pet treats, travel grooming, batteries) where 10-min speed wins.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Trust &amp; Quality Friction: 20.1% of discovery reviews (30% friction subset) fear heat degrades dark store items; 17% (4/24) fear refund bot loops.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★ CORE THESIS TESTED &amp; VALIDATED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Users abandon non-grocery discovery not because they lack desire, but because the financial and quality cost of a wrong/expired non-grocery buy is invisible until delivered.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4747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  AI REVIEW WORKFLOW &amp; PRIMARY RESEARCH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8FAFC"/>
                </a:solidFill>
              </a:defRPr>
            </a:pPr>
            <a:r>
              <a:t>3. Multi-Platform Mixed Review Corpus (10k Items) &amp; Survey Isolate 3 Core Pillars: Delights, Feature Requests &amp; Barriers</a:t>
            </a:r>
          </a:p>
          <a:p>
            <a:pPr>
              <a:defRPr sz="1400">
                <a:solidFill>
                  <a:srgbClr val="F59E0B"/>
                </a:solidFill>
              </a:defRPr>
            </a:pPr>
            <a:r>
              <a:t>Synthesizing 10,000 mixed reviews (40% Positive, 30% Neutral, 30% Negative) and primary survey into actionable insights.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10512"/>
            <a:ext cx="54406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109728"/>
          <a:lstStyle/>
          <a:p>
            <a:pPr algn="ctr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📊 AI PIPELINE &amp; MIXED CORPUS (10,000 ITEMS)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AI Pipeline: Ingested 10,000 records across 10 channels -&gt; Categorized into Positive Delights (40%), Neutral Feature Requests (30%), Negative Frictions (30%).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40% Positive Delights (4,000 items): High adoption for sub-10 min emergency refills (sunscreen, travel grooming, pet treats, fast phone chargers).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30% Neutral Feature Requests (3,000 items): Unmet demand for AI Shade Matchers, Doorstep Try &amp; Inspect, and Category Streak 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810512"/>
            <a:ext cx="54406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109728"/>
          <a:lstStyle/>
          <a:p>
            <a:pPr algn="ctr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🎯 3 SYNTHESIZED BARRIER BUCKETS (USER SURVEY, N=24)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1. Trust Barrier: Quality/expiry fear (25%, 6/24) &amp; Return/refund chatbot uncertainty (17%, 4/24) [Survey Q4].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2. Purchase-Mode Barrier: Planned bulk-buy habit mismatch (33%, 8/24); 83% (20/24) buy planned items on Amazon/Nykaa/DMart.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3. Salience Barrier: Low category awareness (21%, 5/24) due to search-centric speed and banner blindness.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💡 RESEARCH CONCLUSION &amp; INSIGHT SYNTHESIS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Users don't need intrusive checkout banner ads. They need an AI trust cue, a B2B trial sample in their regular bag, and a 15-minute doorstep swap guarantee.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4747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  HIGH-FREQUENCY GROCERY BUYERS WHO LEAK NON-GROCERY SPEND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8FAFC"/>
                </a:solidFill>
              </a:defRPr>
            </a:pPr>
            <a:r>
              <a:t>4. High-Frequency Grocery Refillers (79% Weekly+) Form the Prime Wedge to Intercept Planned Non-Grocery Restocks</a:t>
            </a:r>
          </a:p>
          <a:p>
            <a:pPr>
              <a:defRPr sz="1400">
                <a:solidFill>
                  <a:srgbClr val="F59E0B"/>
                </a:solidFill>
              </a:defRPr>
            </a:pPr>
            <a:r>
              <a:t>Targeting retained grocery refuelers and using grocery cadence to intercept Amazon purchases 2 days before restock.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10512"/>
            <a:ext cx="448056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109728"/>
          <a:lstStyle/>
          <a:p>
            <a:pPr algn="ctr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📊 TARGET COHORT PROFILE &amp; RATIONALE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Cohort Definition: High-frequency grocery users (79% order weekly+, 19/24) who leak non-grocery spend to Amazon/Nykaa (83%, 20/24).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Strategic Fit: Retained users with high basket frequency; lower CAC than acquiring new users.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Predictive Restock Interception: Grocery restock cadence predicts non-grocery replenishment timing, triggering prompts 2 days before Amazon order.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810512"/>
            <a:ext cx="42976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109728"/>
          <a:lstStyle/>
          <a:p>
            <a:pPr algn="ctr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👤 TARGET PERSONA: NEHA (SKINCARE FAN)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Profile: Neha, 26, Bangalore · Digital Marketer &amp; Skincare Enthusiast.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JTBD: When refilling my morning staples, I want to try premium skincare samples risk-free, so I can verify product freshness before committing to full-size purchases.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Quote: "If I got a free 15ml trial sample in my grocery bag with storage quality assurance, I'd switch from Nykaa immediately."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Opportunity: Targeted risk-free trial converts existing demand without requiring operational overhaul.</a:t>
            </a:r>
          </a:p>
        </p:txBody>
      </p:sp>
      <p:pic>
        <p:nvPicPr>
          <p:cNvPr id="7" name="Picture 6" descr="03_skinmatch_ai_camera_sc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810512"/>
            <a:ext cx="2221992" cy="3474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🎯 IMPACT IF SOLVED FOR THE CAUTIOUS EXPLORER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Cuts pre-checkout anxiety loops. Makes multi-category exploration safe. Boosts customer LTV by 3.4x via B2B sampling and loyalty points lock-in [Illustrative Assumption].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84655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Market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1211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Research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39565" y="6236208"/>
            <a:ext cx="1078992" cy="34747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702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Canvas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447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Ideation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1931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MVP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938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76841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429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  SUPPLY-SIDE MONETIZATION &amp; UNIT ECONOMICS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8FAFC"/>
                </a:solidFill>
              </a:defRPr>
            </a:pPr>
            <a:r>
              <a:t>5. Brand-Funded Monetization Yields Positive Unit Economics with Immediate Payback on Cross-Category LTV</a:t>
            </a:r>
          </a:p>
          <a:p>
            <a:pPr>
              <a:defRPr sz="1400">
                <a:solidFill>
                  <a:srgbClr val="F59E0B"/>
                </a:solidFill>
              </a:defRPr>
            </a:pPr>
            <a:r>
              <a:t>100% free for users (no paywall); FMCG brands fund trial samples for closed-loop conversion attribution.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10512"/>
            <a:ext cx="54406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109728"/>
          <a:lstStyle/>
          <a:p>
            <a:pPr algn="ctr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📈 TAM / SAM / SOM OPPORTUNITY SIZING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TAM: $18.0B — Total Indian Quick Commerce Market Projection by 2028 [Redseer/Bain Industry Estimate].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SAM: $4.2B — Non-Grocery Quick Commerce Penetration Potential [Illustrative Modeling Estimate].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SOM: $480M — Zepto Cross-Category Discovery Capture Opportunity [Illustrative Modeling Estimate].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810512"/>
            <a:ext cx="54406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109728"/>
          <a:lstStyle/>
          <a:p>
            <a:pPr algn="ctr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💰 UNIT ECONOMICS &amp; CONVERSION LEVERS (N=24)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100% Free User Access: No user paywall (suppresses funnel). Monetized via B2B brand listing fee (+Rs. 15/sample).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Unit Economics per Sample: Brand Fee (+Rs. 15) - Pack/Fulfill Cost (-Rs. 4) = Net Surplus (+Rs. 11/trial).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Incremental Customer LTV: +Rs. 420/year from converted 2+ category buyers -&gt; Immediate Payback (&lt;1st order).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Validated Triggers: 38% trial via sample (9/24), 63% loyalty link (15/24), 92% doorstep swap trust (22/24).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💡 FINANCIAL FLYWHEEL SUMMARY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Shifting grocery refillers to 35%–50% margin categories expands gross margin by +300bps and captures $480M SOM [Illustrative Modeling Estimate].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4747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  COMPOUNDING DATA FLYWHEEL VS COPIABLE PROMOS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8FAFC"/>
                </a:solidFill>
              </a:defRPr>
            </a:pPr>
            <a:r>
              <a:t>6. Zepto's Defensibility Lies in its First-Party Purchase-Graph Flywheel and Closed-Loop Brand Attribution, Not Copiable Promos</a:t>
            </a:r>
          </a:p>
          <a:p>
            <a:pPr>
              <a:defRPr sz="1400">
                <a:solidFill>
                  <a:srgbClr val="F59E0B"/>
                </a:solidFill>
              </a:defRPr>
            </a:pPr>
            <a:r>
              <a:t>Promos and swap policies are copiable; first-party purchase graphs and B2B attribution create true defensibility.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10512"/>
            <a:ext cx="54406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109728"/>
          <a:lstStyle/>
          <a:p>
            <a:pPr algn="ctr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⚡ TRIVIALLY COPIABLE VS COMPOUNDING MOATS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Trivially Copiable Promos: Free samples, coupons, and 15-min swap policies can be copied by Blinkit/Instamart in a week.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Compounding Data Moat 1: Zepto's first-party grocery purchase graph predicts adjacent category readiness and restock timing.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Compounding Brand Moat 2: Closed-loop brand attribution showing FMCG brands cohort-level sample-to-full-size conversion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810512"/>
            <a:ext cx="54406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109728"/>
          <a:lstStyle/>
          <a:p>
            <a:pPr algn="ctr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🏆 THREE STRATEGIC HORIZONS (RICE MATRIX)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Horizon 1 (MVP) — Discovery Pass, B2B Sampler &amp; Category Streak Engine: 0-CapEx bag sampler + monthly streak habit loop. RICE: 210.0 [Illustrative].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Horizon 2 (Growth) — QC-Native 10-Min Try-and-Return &amp; Storage Telemetry: Delivery-window inspection + temp IoT sensors. RICE: 180.0 [Illustrative].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Horizon 3 (Vision) — Predictive Restock Interception Engine: Cadence-based Amazon interception system [RICE: 160.0].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💡 WHY HORIZON 1 (MVP) WINS FIRST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B2B Sampling requires zero capital expenditure (brands fund sample units) and addresses the core barrier (risk) right inside recurring grocery bags.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4747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  DE-RISKED MVP: SAMPLER, QC-NATIVE TRY-RETURN &amp; STREAKS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8FAFC"/>
                </a:solidFill>
              </a:defRPr>
            </a:pPr>
            <a:r>
              <a:t>7. The Discovery MVP Embeds 0-CAC Sampling, Category Streaks, and 10-Minute Instant Try-and-Return in the Grocery Bag</a:t>
            </a:r>
          </a:p>
          <a:p>
            <a:pPr>
              <a:defRPr sz="1400">
                <a:solidFill>
                  <a:srgbClr val="F59E0B"/>
                </a:solidFill>
              </a:defRPr>
            </a:pPr>
            <a:r>
              <a:t>Combining 0-CAC trial on-ramps with monthly category streak loyalty loops to drive recurring MCER repeat.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10512"/>
            <a:ext cx="448056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109728"/>
          <a:lstStyle/>
          <a:p>
            <a:pPr algn="ctr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💎 BUILT MVP CAPABILITIES 1, 2 &amp; 3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1. 🧠 AI Recommendation &amp; Explainability: Recommends adjacent category with clear context ('Recommended because you regularly buy breakfast staples and haven't tried personal care').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2. 💎 0-CAC In-Bag Trial Sample: Free brand sample (Cetaphil, Pedigree) inside grocery bag at Rs. 0 [38% survey trigger, 9/24].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3. ⚡ QC-Native Instant Try-and-Return: Delivery-window trial/inspection for non-sampleable items (beats Amazon on 10-min reverse logistics).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810512"/>
            <a:ext cx="42976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109728"/>
          <a:lstStyle/>
          <a:p>
            <a:pPr algn="ctr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🏆 BUILT MVP CAPABILITIES 4, 5 &amp; 6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4. 🏆 Category Streak Engine (Moved to MVP): 5-sticker quest unlocking 2x points on daily milk/bread staples to drive monthly repeat [63% survey preference, 15/24].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5. 🏷️ Risk Reduction Voucher: Post-trial nudge unlocking Rs. 100 off full-size items (DISCOVERY100).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6. 🔍 AI Co-Pilot Suite: SkinMatch AI undertone camera scanner &amp; DeviceLink auto-detect.</a:t>
            </a:r>
          </a:p>
        </p:txBody>
      </p:sp>
      <p:pic>
        <p:nvPicPr>
          <p:cNvPr id="7" name="Picture 6" descr="01_b2b_free_sampler_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810512"/>
            <a:ext cx="2221992" cy="3474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🎨 LIVE FIGMA DESIGN SYSTEM &amp; INTERACTIVE MVP PORTAL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Figma Design &amp; Wireframes: https://www.figma.com/design/2gZJHtjmpnI677IhC66PqZ/Untitled?node-id=0-1 | Live App: https://zeptomvp2.streamlit.app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84655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Market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1211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Research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39565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702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Canvas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447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Ideation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1931" y="6236208"/>
            <a:ext cx="1078992" cy="34747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MVP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938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76841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429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  FROM A TYPED GROCERY CART TO A TRUSTED CROSS-CATEGORY ORDER. SAME APP, TWO VIEWS.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8FAFC"/>
                </a:solidFill>
              </a:defRPr>
            </a:pPr>
            <a:r>
              <a:t>8. Four-Layer Decision Engine Powers Predictive Restock Nudges and Closed-Loop Brand Attribution</a:t>
            </a:r>
          </a:p>
          <a:p>
            <a:pPr>
              <a:defRPr sz="1400">
                <a:solidFill>
                  <a:srgbClr val="F59E0B"/>
                </a:solidFill>
              </a:defRPr>
            </a:pPr>
            <a:r>
              <a:t>Four-layer architecture integrates brand inventory, cart triggers, and loyalty ledgers.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10512"/>
            <a:ext cx="54406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109728"/>
          <a:lstStyle/>
          <a:p>
            <a:pPr algn="ctr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⚙ SYSTEM ARCHITECTURE (4 CORE LAYERS)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Layer 1 (Client UI): Mobile Cart UI, B2B Sampler Carousel, Category Streak Board, SkinMatch Viewfinder.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Layer 2 (Decision Engine): Persona Recommendation &amp; Explainability Engine, Voucher Validator, 2x Points Multiplier.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Layer 3 (Operations &amp; Fulfillment): Picker packing checklist update (adds &lt;3s to picking flow; zero hardware requirement for MVP).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Layer 4 (B2B Marketplace Portal): Brand sample inventory ledger tracking sample-to-full-size conversion rates for FMCG brands.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810512"/>
            <a:ext cx="54406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109728"/>
          <a:lstStyle/>
          <a:p>
            <a:pPr algn="ctr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🔄 EMOTION &amp; METRIC MAPPING ACROSS STAGES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Stage 1 (Cart): Types grocery staples -&gt; System flags persona &amp; explainability nudge -&gt; Curious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Stage 2 (Sample): Claims B2B trial -&gt; System packs in bag -&gt; Confident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Stage 3 (Audit): Views storage quality badge -&gt; System verifies freshness -&gt; Reassured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Stage 4 (Checkout): Applies DISCOVERY100 -&gt; System unlocks 2x Points -&gt; Empowered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💡 TECHNICAL ARCHITECTURE MOAT &amp; FEASIBILITY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Zero hardware cost for MVP sampler. Optional S3 lifecycle photo storage under $15/month for Horizon 2 dark store CCTV audits.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4747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  INCREMENTAL LIFT VIA RANDOMIZED HOLDOUT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8FAFC"/>
                </a:solidFill>
              </a:defRPr>
            </a:pPr>
            <a:r>
              <a:t>9. MCER Growth (8.2% -&gt; 28.4%) Is Validated via Randomized Holdout Groups and SLA Guardrails</a:t>
            </a:r>
          </a:p>
          <a:p>
            <a:pPr>
              <a:defRPr sz="1400">
                <a:solidFill>
                  <a:srgbClr val="F59E0B"/>
                </a:solidFill>
              </a:defRPr>
            </a:pPr>
            <a:r>
              <a:t>Measuring true incremental lift via control groups rather than raw attach proxies.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10512"/>
            <a:ext cx="54406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109728"/>
          <a:lstStyle/>
          <a:p>
            <a:pPr algn="ctr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⭐ NORTH STAR &amp; INCREMENTALITY FRAMEWORK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North Star Metric: Monthly Category Exploration Rate (MCER) — % of MACs purchasing from 2+ categories/month.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• Baseline: 8.2% MAC -&gt; Target: 28.4% MAC in 12 months [Illustrative Trajectory Target].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Randomized Holdout Control: 10% control group (no sample/nudge) vs treatment to measure true incremental causal lift.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Leading Indicators: Sample attach rate (&gt;35%), Sample-to-full-size conversion (12% in 14 days), Category streak completion rate.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810512"/>
            <a:ext cx="54406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109728"/>
          <a:lstStyle/>
          <a:p>
            <a:pPr algn="ctr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🛡️ OPERATIONAL GUARDRAIL METRICS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Picker SLA Floor: Dark-store sample packing time addition capped at &lt;3 seconds per order.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Checkout Drop-off Cap: Sample selection interaction must not increase cart drop-off rate (&gt;0.2%).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Refund Rate Ceiling: Doorstep replacement requests must remain below 1.5% of non-grocery orders.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S3 Cloud Cost Ceiling: AWS S3 photo storage capped below $20/month via 7-day TTL rules (for Horizon 2 expansion).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📈 METRIC COMPOUNDING &amp; INTEGRITY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MCER is measured strictly from real event streams (sample claims, voucher redemptions, category streak completions). Zero proxies.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4747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  NON-SAMPLEABLE CEILINGS &amp; PHASED ROLLOUT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8FAFC"/>
                </a:solidFill>
              </a:defRPr>
            </a:pPr>
            <a:r>
              <a:t>10. Phased Rollout Overcomes Sample Supply Ceilings via Instant Try-and-Return in Non-Sampleable Categories</a:t>
            </a:r>
          </a:p>
          <a:p>
            <a:pPr>
              <a:defRPr sz="1400">
                <a:solidFill>
                  <a:srgbClr val="F59E0B"/>
                </a:solidFill>
              </a:defRPr>
            </a:pPr>
            <a:r>
              <a:t>Addressing high-ticket non-sampleable categories via instant try-and-return while monetizing brand attribution.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10512"/>
            <a:ext cx="54406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109728"/>
          <a:lstStyle/>
          <a:p>
            <a:pPr algn="ctr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🚀 3-PHASE ROLLOUT &amp; NON-SAMPLEABLE STRATEGY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Non-Sampleable Strategy: High-ticket items (Electronics, Baby Gear) bypass sampling via 10-min Instant Try-and-Return.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Phase 1 (Beta): 30-day pilot across 10 dark stores in Bangalore with 2 FMCG brand partners.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Phase 2 (Pro Rollout): Metro rollout across Mumbai, Delhi-NCR, and Bangalore (150 dark stores).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Phase 3 (GA): Full network rollout across 500+ dark store hubs.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810512"/>
            <a:ext cx="54406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109728"/>
          <a:lstStyle/>
          <a:p>
            <a:pPr algn="ctr"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🔗 ANONYMOUS REVIEWER DATA &amp; DEMO DIRECTORY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Figma Design &amp; Wireframes: https://www.figma.com/design/2gZJHtjmpnI677IhC66PqZ/Untitled?node-id=0-1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Live Streamlit Production App: https://zeptomvp2.streamlit.app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10,000 Reviews Dataset: https://zeptomvp2.streamlit.app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Public Source Code: NL_Zepto_Growth_PM_Graduation_Project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⚠️ RISKS &amp; MITIGATIONS SUMMARY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Sample Shortage -&gt; Multi-brand fallback pool | Return Anxiety -&gt; 15-Min Rider Swap | Copying -&gt; Points Streak Lock-In on Staples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4747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